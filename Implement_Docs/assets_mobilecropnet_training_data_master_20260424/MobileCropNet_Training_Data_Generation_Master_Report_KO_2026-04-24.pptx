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3400" b="1">
                <a:solidFill>
                  <a:srgbClr val="152033"/>
                </a:solidFill>
                <a:latin typeface="Noto Sans CJK KR"/>
              </a:rPr>
              <a:t>MobileCropNet 학습 데이터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43584"/>
            <a:ext cx="99669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Noto Sans CJK KR"/>
              </a:rPr>
              <a:t>온디바이스 이미지 크롭핑을 위한 후보 중심, Teacher 라우팅, 정책 인식 라벨 팩토리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52033"/>
                </a:solidFill>
                <a:latin typeface="Noto Sans CJK KR"/>
              </a:rPr>
              <a:t>Source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478024"/>
            <a:ext cx="15544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58568" y="214884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52033"/>
                </a:solidFill>
                <a:latin typeface="Noto Sans CJK KR"/>
              </a:rPr>
              <a:t>C1-C7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75887" y="2478024"/>
            <a:ext cx="15544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31335" y="214884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52033"/>
                </a:solidFill>
                <a:latin typeface="Noto Sans CJK KR"/>
              </a:rPr>
              <a:t>Route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48655" y="2478024"/>
            <a:ext cx="155449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04104" y="214884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52033"/>
                </a:solidFill>
                <a:latin typeface="Noto Sans CJK KR"/>
              </a:rPr>
              <a:t>Candidates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21424" y="2478024"/>
            <a:ext cx="15544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76872" y="214884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52033"/>
                </a:solidFill>
                <a:latin typeface="Noto Sans CJK KR"/>
              </a:rPr>
              <a:t>Teacher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94192" y="2478024"/>
            <a:ext cx="15544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214884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52033"/>
                </a:solidFill>
                <a:latin typeface="Noto Sans CJK KR"/>
              </a:rPr>
              <a:t>Labels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66960" y="2478024"/>
            <a:ext cx="15544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22408" y="214884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52033"/>
                </a:solidFill>
                <a:latin typeface="Noto Sans CJK KR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875520" cy="123444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52033"/>
                </a:solidFill>
                <a:latin typeface="Noto Sans CJK KR"/>
              </a:defRPr>
            </a:pPr>
            <a:r>
              <a:t>- 대상 문서: Implement_Docs/MobileCropNet_Training_Data_Generation_Master_Report_KO_2026-04-24.md</a:t>
            </a:r>
          </a:p>
          <a:p>
            <a:pPr>
              <a:spcAft>
                <a:spcPts val="800"/>
              </a:spcAft>
              <a:defRPr sz="1400">
                <a:solidFill>
                  <a:srgbClr val="152033"/>
                </a:solidFill>
                <a:latin typeface="Noto Sans CJK KR"/>
              </a:defRPr>
            </a:pPr>
            <a:r>
              <a:t>- 학술보고용 core deck + appendix 구조로 렌더링</a:t>
            </a:r>
          </a:p>
          <a:p>
            <a:pPr>
              <a:spcAft>
                <a:spcPts val="800"/>
              </a:spcAft>
              <a:defRPr sz="1400">
                <a:solidFill>
                  <a:srgbClr val="152033"/>
                </a:solidFill>
                <a:latin typeface="Noto Sans CJK KR"/>
              </a:defRPr>
            </a:pPr>
            <a:r>
              <a:t>- 핵심 결론: teacher ceiling보다 student internalization이 현재 병목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1/38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한 장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현재 문제는 좋은 teacher가 없는 것이 아니라, no-prior student가 route, subject, policy, explanation 구조를 충분히 내재화하지 못하는 것이다.</a:t>
            </a:r>
          </a:p>
        </p:txBody>
      </p:sp>
      <p:pic>
        <p:nvPicPr>
          <p:cNvPr id="8" name="Picture 7" descr="fig_final_gate_pass_fail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9329"/>
            <a:ext cx="6812280" cy="44279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07608"/>
            <a:ext cx="68122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Final release gate pass/fail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481328"/>
            <a:ext cx="365760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production_final_hybrid는 equal-4 raw 0.882696, z 1.148158로 강한 teacher ceiling을 보임</a:t>
            </a:r>
          </a:p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최종 student shortlist 19/19가 route-collapse hard gate 실패</a:t>
            </a:r>
          </a:p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다음 개선은 route-balanced sampling, subject-aware proposal, portrait-sensitive checklist에 집중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왜 단일 BBox 회귀가 아닌가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2E8C7D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동일 이미지라도 target AR, 인물/객체/장면 구조, 텍스트와 copy-space, 안전한 잘림 여부에 따라 정답 crop이 달라진다.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108960"/>
            <a:ext cx="24688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2033"/>
                </a:solidFill>
                <a:latin typeface="Noto Sans CJK KR"/>
              </a:rPr>
              <a:t>MobileCropNet
Label Factory
structured 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6916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Coordinate
Regression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185416"/>
            <a:ext cx="2286000" cy="1426464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1508760"/>
            <a:ext cx="16916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Candidate
Ranking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892040" y="1865376"/>
            <a:ext cx="457200" cy="1746504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1508760"/>
            <a:ext cx="16916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MOS
Benchmarks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892040" y="1865376"/>
            <a:ext cx="4297679" cy="1746504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75520" y="2057400"/>
            <a:ext cx="16916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VLM / Intent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92040" y="2414016"/>
            <a:ext cx="6675120" cy="1197864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20240" y="4572000"/>
            <a:ext cx="16916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Subject-aware
Composition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611880" y="3611880"/>
            <a:ext cx="1280160" cy="1316736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문제 정식화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7357A6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4/38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학습 label은 하나의 box가 아니라 candidate availability, local ranking, policy decision, explanation consistency를 동시에 담는 contract다.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16459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Image I
+ target 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971800"/>
            <a:ext cx="685800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2514600"/>
            <a:ext cx="16459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Candidate set
C(I,r)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395728"/>
            <a:ext cx="1234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Candidate
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971800"/>
            <a:ext cx="640080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49440" y="2395728"/>
            <a:ext cx="1234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Ranking
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395728"/>
            <a:ext cx="1234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Policy
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59" y="2395728"/>
            <a:ext cx="1234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Explanation
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00600"/>
            <a:ext cx="98755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7357A6"/>
                </a:solidFill>
                <a:latin typeface="Noto Sans CJK KR"/>
              </a:rPr>
              <a:t>E_total = E_candidate + E_ranking + E_policy + E_explain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End-to-End Label Factory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5/38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source corpus부터 benchmark feedback까지 이어지는 데이터 팩토리가 MobileCropNet의 행동 공간을 정의한다.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Source
Corpora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130552"/>
            <a:ext cx="11887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47672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Curation
+ Splits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73552" y="2130552"/>
            <a:ext cx="11887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92424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C1-C7
Precompute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8304" y="2130552"/>
            <a:ext cx="11887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37176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Routing
Guidance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63056" y="2130552"/>
            <a:ext cx="11887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81928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Candidate
Bank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07808" y="2130552"/>
            <a:ext cx="11887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80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Teacher
Scoring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52560" y="2130552"/>
            <a:ext cx="11887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71432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Student
Contract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97312" y="2130552"/>
            <a:ext cx="11887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16184" y="1828800"/>
            <a:ext cx="1325880" cy="6035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2033"/>
                </a:solidFill>
                <a:latin typeface="Noto Sans CJK KR"/>
              </a:rPr>
              <a:t>Benchmark
Feedback</a:t>
            </a:r>
          </a:p>
        </p:txBody>
      </p:sp>
      <p:pic>
        <p:nvPicPr>
          <p:cNvPr id="23" name="Picture 22" descr="fig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586" y="2816352"/>
            <a:ext cx="6725786" cy="29077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5870448"/>
            <a:ext cx="104241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Existing pipeline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Source Corpus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C26A2E"/>
          </a:solidFill>
          <a:ln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6/38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SSTK는 product semantics를, GAIC는 public MOS/ranking benchmark signal을 제공한다. 두 source를 같은 의미로 합치면 안 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92608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52033"/>
                </a:solidFill>
                <a:latin typeface="Noto Sans CJK KR"/>
              </a:rPr>
              <a:t>SSTK
route / decision
checklist / safety
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828800"/>
            <a:ext cx="292608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52033"/>
                </a:solidFill>
                <a:latin typeface="Noto Sans CJK KR"/>
              </a:rPr>
              <a:t>GAIC
dense candidates
MOS / public ranking
official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48840"/>
            <a:ext cx="29718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52033"/>
                </a:solidFill>
                <a:latin typeface="Noto Sans CJK KR"/>
              </a:rPr>
              <a:t>Image-level
deterministic split
leakage guard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2990088"/>
            <a:ext cx="868681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89520" y="2990088"/>
            <a:ext cx="868680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80160" y="4754880"/>
            <a:ext cx="9875520" cy="105156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SSTK: route, decision, checklist, safety, provenance 중심</a:t>
            </a:r>
          </a:p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GAIC: dense candidate MOS와 public ranking 중심</a:t>
            </a:r>
          </a:p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split은 image-level deterministic policy로 관리해 leakage를 막는다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SSTK Factory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4F8A53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7/38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10,000 curated image는 image-targetAR task와 sidecar supervision으로 확장되어 단순 coordinate dataset보다 훨씬 조밀한 학습 신호를 만든다.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10,000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Curated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48,766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Batch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151,049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Pairwise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48,766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Listwise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341,665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Candidate slots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7,533,038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Candidate bank</a:t>
            </a:r>
          </a:p>
        </p:txBody>
      </p:sp>
      <p:pic>
        <p:nvPicPr>
          <p:cNvPr id="14" name="Picture 13" descr="fig_quant_sstk_factory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841"/>
            <a:ext cx="6675120" cy="38938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601675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SSTK factory supervision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C1-C7 Perception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2E8C7D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8/38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C1-C7은 feature cache가 아니라 routing, candidate generation, scoring, label repair가 공유하는 관측 기반이다.</a:t>
            </a:r>
          </a:p>
        </p:txBody>
      </p:sp>
      <p:pic>
        <p:nvPicPr>
          <p:cNvPr id="8" name="Picture 7" descr="fig_c1_c7_perception_stack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8780"/>
            <a:ext cx="640080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16752"/>
            <a:ext cx="64008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C1-C7 stack and downstream label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C1 caption/semantic, C2 object/segmentation, C3 face/pose/gaze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C4 OCR/copy-space, C5 geometry, C6 portrait refinement, C7 saliency-support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downstream label은 이 관측을 route, subject, checklist, risk target으로 번역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Subject Support Is Not Crop Box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4F8A53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9/38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C2 object box, C3 person prior, C7 support map은 서로 다른 supervision이며 winner crop과 동일시하면 안 된다.</a:t>
            </a:r>
          </a:p>
        </p:txBody>
      </p:sp>
      <p:pic>
        <p:nvPicPr>
          <p:cNvPr id="8" name="Picture 7" descr="fig_c2_c3_c7_jo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5685"/>
            <a:ext cx="5394960" cy="33044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C2/C3/C7 joint perception overlay</a:t>
            </a:r>
          </a:p>
        </p:txBody>
      </p:sp>
      <p:pic>
        <p:nvPicPr>
          <p:cNvPr id="10" name="Picture 9" descr="fig_subject_support_map_region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811"/>
            <a:ext cx="5394960" cy="35741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Subject support-map region examples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Routing as Policy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10/38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subject_mode는 auxiliary label이 아니라 candidate seed, scoring weights, checklist applicability, action decision을 바꾸는 control variable이다.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20116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52033"/>
                </a:solidFill>
                <a:latin typeface="Noto Sans CJK KR"/>
              </a:rPr>
              <a:t>subject_mode
policy prior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83080"/>
            <a:ext cx="146304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Candidate
Seeds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24912" y="2377440"/>
            <a:ext cx="52120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79" y="1783080"/>
            <a:ext cx="146304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Scoring
Weights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24912" y="2377440"/>
            <a:ext cx="2487167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78040" y="1783080"/>
            <a:ext cx="146304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Checklist
Applicability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24912" y="2377440"/>
            <a:ext cx="445312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1783080"/>
            <a:ext cx="146304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Action
Decision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2377440"/>
            <a:ext cx="6419088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91840" y="4224528"/>
            <a:ext cx="54406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Failure path: collapse to object_single
wrong candidates + weak portrait checklist + wrong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19072" y="2926080"/>
            <a:ext cx="2852928" cy="1298448"/>
          </a:xfrm>
          <a:prstGeom prst="line">
            <a:avLst/>
          </a:prstGeom>
          <a:ln w="15240">
            <a:solidFill>
              <a:srgbClr val="B5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fig_route_collaps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912870"/>
            <a:ext cx="2651760" cy="15468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Candidate Bank and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7357A6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11/38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좋은 crop이 후보 bank에 없으면 ranking, policy, explanation head가 복구할 수 없다.</a:t>
            </a:r>
          </a:p>
        </p:txBody>
      </p:sp>
      <p:pic>
        <p:nvPicPr>
          <p:cNvPr id="8" name="Picture 7" descr="fig_candidate_bank_by_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34362"/>
            <a:ext cx="5394960" cy="3147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Candidate bank by target AR</a:t>
            </a:r>
          </a:p>
        </p:txBody>
      </p:sp>
      <p:pic>
        <p:nvPicPr>
          <p:cNvPr id="10" name="Picture 9" descr="fig_matching_candidate_pool_ignored_over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39981"/>
            <a:ext cx="5394960" cy="31358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Candidate role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Teacher Lineage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C26A2E"/>
          </a:solidFill>
          <a:ln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12/38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T1, T6, UCTR-H stage3, public ensemble, production hybrid는 같은 score가 아니라 서로 다른 의미의 teacher lineage다.</a:t>
            </a:r>
          </a:p>
        </p:txBody>
      </p:sp>
      <p:pic>
        <p:nvPicPr>
          <p:cNvPr id="8" name="Picture 7" descr="fig_uctr_stage3_deep_rank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48765"/>
            <a:ext cx="6400800" cy="4400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16752"/>
            <a:ext cx="64008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UCTR stage3 deep ranker scoring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T1: native product semantics와 checklist/safety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UCTR-H stage3: public geometry와 GAIC ranking을 함께 학습한 deep ranker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public ensemble: GAIC/CGS ranking strength, product safety는 별도 gate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Safe Pseudo-Label Conversion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13/38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raw public score는 강력하지만, explanation/safety contradiction 때문에 fatal demotion과 unsafe cap 이후에만 student supervision이 된다.</a:t>
            </a:r>
          </a:p>
        </p:txBody>
      </p:sp>
      <p:pic>
        <p:nvPicPr>
          <p:cNvPr id="8" name="Picture 7" descr="fig_teacher_score_disagreemen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21966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Public score vs SSTK safety disagreement</a:t>
            </a:r>
          </a:p>
        </p:txBody>
      </p:sp>
      <p:pic>
        <p:nvPicPr>
          <p:cNvPr id="10" name="Picture 9" descr="fig_safe_conversion_demoted_candid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34362"/>
            <a:ext cx="5394960" cy="3147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Safe conversion demotion/capping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Student Training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14/38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batch JSONL과 pairwise/listwise/checklist sidecar는 image-targetAR-local key로 결합되어 multi-head target을 만든다.</a:t>
            </a:r>
          </a:p>
        </p:txBody>
      </p:sp>
      <p:pic>
        <p:nvPicPr>
          <p:cNvPr id="8" name="Picture 7" descr="fig_training_row_contrac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5685"/>
            <a:ext cx="5394960" cy="33044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Training row contract</a:t>
            </a:r>
          </a:p>
        </p:txBody>
      </p:sp>
      <p:pic>
        <p:nvPicPr>
          <p:cNvPr id="10" name="Picture 9" descr="fig_batch_pairwise_listwise_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34362"/>
            <a:ext cx="5394960" cy="3147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Batch and sidecar join scale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Product-AR and Decision Semantics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C49A2C"/>
          </a:solidFill>
          <a:ln>
            <a:solidFill>
              <a:srgbClr val="C4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15/38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Product-AR는 deployment에 가까운 image-targetAR task이지만, branch materialization과 decision diversity를 분리해서 해석해야 한다.</a:t>
            </a:r>
          </a:p>
        </p:txBody>
      </p:sp>
      <p:pic>
        <p:nvPicPr>
          <p:cNvPr id="8" name="Picture 7" descr="fig_product_ar_branch_materialization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0559"/>
            <a:ext cx="5394960" cy="3034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Product-AR branch status</a:t>
            </a:r>
          </a:p>
        </p:txBody>
      </p:sp>
      <p:pic>
        <p:nvPicPr>
          <p:cNvPr id="10" name="Picture 9" descr="fig_decision_distribution_sstk_vs_product_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34362"/>
            <a:ext cx="5394960" cy="3147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SSTK decision/action distribution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No-Prior Runtime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2E8C7D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16/38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teacher subject/support는 training supervision일 뿐 runtime input이 아니다. Product inference는 image + target_ar만 받는다.</a:t>
            </a:r>
          </a:p>
        </p:txBody>
      </p:sp>
      <p:pic>
        <p:nvPicPr>
          <p:cNvPr id="8" name="Picture 7" descr="fig_runtime_no_prior_action_executo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23122"/>
            <a:ext cx="5394960" cy="31695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No-prior runtime executor</a:t>
            </a:r>
          </a:p>
        </p:txBody>
      </p:sp>
      <p:pic>
        <p:nvPicPr>
          <p:cNvPr id="10" name="Picture 9" descr="fig_runtime_pred_subject_box_without_p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34362"/>
            <a:ext cx="5394960" cy="3147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No-prior subject-box supervision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Teacher Ceiling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17/38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teacher benchmark ceiling은 이미 강하다. 다음 병목은 teacher discovery보다 transfer와 student internalization이다.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522476" cy="996695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0.882696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Hybrid equal4 raw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6564" y="1481328"/>
            <a:ext cx="1522476" cy="996695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1.148158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Hybrid equal4 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87752"/>
            <a:ext cx="1522476" cy="996695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0.852693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UCTR stage3 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6564" y="2587752"/>
            <a:ext cx="1522476" cy="996695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0.798613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Public ensemble raw</a:t>
            </a:r>
          </a:p>
        </p:txBody>
      </p:sp>
      <p:pic>
        <p:nvPicPr>
          <p:cNvPr id="12" name="Picture 11" descr="fig_unified_equal4_teacher_cropper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491036"/>
            <a:ext cx="3657600" cy="22508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77639" y="5971032"/>
            <a:ext cx="36576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Equal-4 teacher/cropper leaderboard</a:t>
            </a:r>
          </a:p>
        </p:txBody>
      </p:sp>
      <p:pic>
        <p:nvPicPr>
          <p:cNvPr id="14" name="Picture 13" descr="fig_unified_public_benchmark_metric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462901"/>
            <a:ext cx="3749039" cy="23071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5971032"/>
            <a:ext cx="3749039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Dataset-primary metric matrix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Student Shortlist Blocker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18/38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best-available student는 있으나 final shipping model은 아니다. public crop quality는 일부 보존되지만 route-collapse hard gate를 실패한다.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19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Shortlist entries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19 / 19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Route collapse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0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Final gate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B54A4A"/>
                </a:solidFill>
                <a:latin typeface="Aptos"/>
              </a:rPr>
              <a:t>balanced_288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Default winner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0.01204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Portrait single acc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0.760155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Equal4 raw mean</a:t>
            </a:r>
          </a:p>
        </p:txBody>
      </p:sp>
      <p:pic>
        <p:nvPicPr>
          <p:cNvPr id="14" name="Picture 13" descr="fig_quant_route_collapse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841"/>
            <a:ext cx="6675120" cy="38938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601675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Student shortlist route-collapse diagnostic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Qualitative Failure Taxonomy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7357A6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19/38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deployment sign-off는 visual crop 품질뿐 아니라 route, action, subject-box, checklist, why-tag 일관성을 함께 본다.</a:t>
            </a:r>
          </a:p>
        </p:txBody>
      </p:sp>
      <p:pic>
        <p:nvPicPr>
          <p:cNvPr id="8" name="Picture 7" descr="fig_qualitative_failure_taxonomy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21966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Failure taxonomy panel</a:t>
            </a:r>
          </a:p>
        </p:txBody>
      </p:sp>
      <p:pic>
        <p:nvPicPr>
          <p:cNvPr id="10" name="Picture 9" descr="fig_headroom_lookroom_good_bad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49907"/>
            <a:ext cx="5394960" cy="4315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Headroom/lookroom examples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Conclusion and Next Experiments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4F8A53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20/38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핵심 기여는 이질적인 crop knowledge를 structured student contract로 번역한 것이다. 다음 과학적 단계는 route/action/safety gate를 통과하는 deployable student를 가르치는 것이다.</a:t>
            </a:r>
          </a:p>
        </p:txBody>
      </p:sp>
      <p:pic>
        <p:nvPicPr>
          <p:cNvPr id="8" name="Picture 7" descr="fig_deployment_leaderboar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6404"/>
            <a:ext cx="6812280" cy="39738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07608"/>
            <a:ext cx="68122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Deployment leaderboard signal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481328"/>
            <a:ext cx="365760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route-balanced sampling과 route별 hard negative로 collapse를 깨는 bounded rerun</a:t>
            </a:r>
          </a:p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subject-aware proposal coupling과 pose-aware portrait prior 강화</a:t>
            </a:r>
          </a:p>
          <a:p>
            <a:pPr>
              <a:spcAft>
                <a:spcPts val="800"/>
              </a:spcAft>
              <a:defRPr sz="1200">
                <a:solidFill>
                  <a:srgbClr val="152033"/>
                </a:solidFill>
                <a:latin typeface="Noto Sans CJK KR"/>
              </a:defRPr>
            </a:pPr>
            <a:r>
              <a:t>- dense support-map supervision과 standardized qualitative review pack 승격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A1. Full Related Work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21/38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기존 crop supervision은 각자 강점이 다르며, MobileCropNet은 이를 structured contract로 결합한다.</a:t>
            </a:r>
          </a:p>
        </p:txBody>
      </p:sp>
      <p:pic>
        <p:nvPicPr>
          <p:cNvPr id="8" name="Picture 7" descr="fig_public_dataset_annot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00800" cy="4480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16752"/>
            <a:ext cx="64008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Public crop benchmark annotation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좌표 회귀: 빠른 단일 crop 좌표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후보 순위화 / GAIC MOS / VLM instruction / subject-aware composition은 서로 다른 supervision axis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raw dataset metric을 product policy로 오해하지 않는 것이 핵심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A2. Full Objective Formulas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7357A6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22/38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본문에는 핵심만 남기고 자세한 수식은 appendix에서 참조한다.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324612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2033"/>
                </a:solidFill>
                <a:latin typeface="Noto Sans CJK KR"/>
              </a:rPr>
              <a:t>S_rank
aesthetic + subject + composition + external teacher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4612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2033"/>
                </a:solidFill>
                <a:latin typeface="Noto Sans CJK KR"/>
              </a:rPr>
              <a:t>S_policy
S_rank + area prior - safety penalty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1645920"/>
            <a:ext cx="324612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2033"/>
                </a:solidFill>
                <a:latin typeface="Noto Sans CJK KR"/>
              </a:rPr>
              <a:t>y_rank
image-task-local rank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324612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2033"/>
                </a:solidFill>
                <a:latin typeface="Noto Sans CJK KR"/>
              </a:rPr>
              <a:t>p_i
softmax listwise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246120"/>
            <a:ext cx="324612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2033"/>
                </a:solidFill>
                <a:latin typeface="Noto Sans CJK KR"/>
              </a:rPr>
              <a:t>L_pair
positive-vs-negative preference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3246120"/>
            <a:ext cx="324612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2033"/>
                </a:solidFill>
                <a:latin typeface="Noto Sans CJK KR"/>
              </a:rPr>
              <a:t>y_decision
keep / minimal / crop action target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A3. SSTK Category Distribution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4F8A53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23/38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Full_10000 materialized corpus는 category-balanced curation을 목표로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5088636" cy="140512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12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Super-categories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2764" y="1508760"/>
            <a:ext cx="5088636" cy="140512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10,000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Image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23615"/>
            <a:ext cx="5088636" cy="140512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833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people_single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2764" y="3023615"/>
            <a:ext cx="5088636" cy="140512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833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people_multi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38472"/>
            <a:ext cx="5088636" cy="140512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833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2764" y="4538472"/>
            <a:ext cx="5088636" cy="140512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836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architecture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A4. Split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C26A2E"/>
          </a:solidFill>
          <a:ln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24/38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pairwise/listwise와 Product-AR task 확장 때문에 split은 row가 아니라 image id와 seed 기준으로 관리해야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79676" y="2788920"/>
            <a:ext cx="150876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Image 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8436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3028" y="2788920"/>
            <a:ext cx="150876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Deterministic
Split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1788" y="3163824"/>
            <a:ext cx="164591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26379" y="2788920"/>
            <a:ext cx="150876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Batch JSONL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35140" y="3163824"/>
            <a:ext cx="164591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99731" y="2788920"/>
            <a:ext cx="150876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Sidecars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8492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73084" y="2788920"/>
            <a:ext cx="150876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Product-AR
Tasks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A5. C1-C7 Stage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2E8C7D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25/38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각 C-stage는 downstream label의 일부로 직접 또는 간접 반영된다.</a:t>
            </a:r>
          </a:p>
        </p:txBody>
      </p:sp>
      <p:pic>
        <p:nvPicPr>
          <p:cNvPr id="8" name="Picture 7" descr="fig_c7_subject_suppor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8775"/>
            <a:ext cx="6400800" cy="4240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16752"/>
            <a:ext cx="64008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C7 subject-support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C1 semantic context, C2 object/segmentation, C3 face/pose/gaze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C4 OCR/text/copy-space, C5 horizon/symmetry/layout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C6 person refinement, C7 saliency/support attribution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A6. Route Policy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26/38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route family별 구성 정책과 collapse 증상은 core deck의 route-control slide를 보완한다.</a:t>
            </a:r>
          </a:p>
        </p:txBody>
      </p:sp>
      <p:pic>
        <p:nvPicPr>
          <p:cNvPr id="8" name="Picture 7" descr="fig_route_subject_mode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811"/>
            <a:ext cx="5394960" cy="35741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Subject-mode routing examples</a:t>
            </a:r>
          </a:p>
        </p:txBody>
      </p:sp>
      <p:pic>
        <p:nvPicPr>
          <p:cNvPr id="10" name="Picture 9" descr="fig_route_subject_mode_plain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811"/>
            <a:ext cx="5394960" cy="35741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Plain routing gallery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A7. Candidate Algorithm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7357A6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27/38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Candidate bank는 baseline, AR proposal, subject/support expansion, teacher proposal을 합친 뒤 staged NMS와 role assignment를 수행한다.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baseline_full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6232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20824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baseline_minimal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6976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01568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AR grid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82312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subject expansion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63056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support proposal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79208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teacher proposal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9952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24544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NMS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40696" y="3163824"/>
            <a:ext cx="164592" cy="0"/>
          </a:xfrm>
          <a:prstGeom prst="line">
            <a:avLst/>
          </a:prstGeom>
          <a:ln w="1524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05288" y="2788920"/>
            <a:ext cx="12161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2033"/>
                </a:solidFill>
                <a:latin typeface="Noto Sans CJK KR"/>
              </a:rPr>
              <a:t>role assignment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A8. Candidate Bank Numeric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28/38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FREE와 fixed-AR task는 서로 다른 후보 분포를 만들며, main batch는 전체 bank를 압축한 slot만 사용한다.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1,951,872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FREE 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1,350,612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4:3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1,325,602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16:9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1,211,483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1:1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906,683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3:4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786,786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9:16 total</a:t>
            </a:r>
          </a:p>
        </p:txBody>
      </p:sp>
      <p:pic>
        <p:nvPicPr>
          <p:cNvPr id="14" name="Picture 13" descr="fig_candidate_bank_by_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841"/>
            <a:ext cx="6675120" cy="38938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601675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Target-AR candidate bank size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A9. Label Role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4F8A53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29/38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positive가 많다는 것은 쉬운 dataset이라는 뜻이 아니라 soft positive, baseline positive, hard negative audit이 공존한다는 뜻이다.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179,494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matching_targets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83,589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candidate_pool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62,128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ignored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16,454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overflow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48,766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top1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F8A53"/>
                </a:solidFill>
                <a:latin typeface="Aptos"/>
              </a:rPr>
              <a:t>120,996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soft_positive</a:t>
            </a:r>
          </a:p>
        </p:txBody>
      </p:sp>
      <p:pic>
        <p:nvPicPr>
          <p:cNvPr id="14" name="Picture 13" descr="fig_matching_candidate_pool_ignored_over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90795"/>
            <a:ext cx="6675120" cy="387991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601675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Candidate role split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A10. T1 vs UCTR Stage3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C26A2E"/>
          </a:solidFill>
          <a:ln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30/38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T1은 product-safe native utility, UCTR-H stage3는 public benchmark utility에 강한 deep crop ranker다.</a:t>
            </a:r>
          </a:p>
        </p:txBody>
      </p:sp>
      <p:pic>
        <p:nvPicPr>
          <p:cNvPr id="8" name="Picture 7" descr="fig_uctr_stage3_deep_rank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48765"/>
            <a:ext cx="6400800" cy="4400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16752"/>
            <a:ext cx="64008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T1 native score vs UCTR stage3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T1: C1-C7 evidence, route, checklist, safety, decision type을 직접 보존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UCTR-H: FCDB/GNMC IoU, CPC pairwise, GAIC MOS/ranking을 통합 학습</a:t>
            </a:r>
          </a:p>
          <a:p>
            <a:pPr>
              <a:spcAft>
                <a:spcPts val="800"/>
              </a:spcAft>
              <a:defRPr sz="1300">
                <a:solidFill>
                  <a:srgbClr val="152033"/>
                </a:solidFill>
                <a:latin typeface="Noto Sans CJK KR"/>
              </a:defRPr>
            </a:pPr>
            <a:r>
              <a:t>- UCTR branch도 safe conversion을 통과해야 product label이 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A11. Pseudo-Label Semantic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31/38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external teacher override 가능 범위는 geometry/rank/policy/safety/explanation/provenance 계층마다 다르다.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508760"/>
            <a:ext cx="7589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Geometry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185415"/>
            <a:ext cx="7589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Rank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862072"/>
            <a:ext cx="7589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Policy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3538727"/>
            <a:ext cx="7589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Safety / 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4215383"/>
            <a:ext cx="7589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Explanation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4892040"/>
            <a:ext cx="7589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2033"/>
                </a:solidFill>
                <a:latin typeface="Noto Sans CJK KR"/>
              </a:rPr>
              <a:t>Provenance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B54A4A"/>
                </a:solidFill>
                <a:latin typeface="Noto Sans CJK KR"/>
              </a:rPr>
              <a:t>external teacher는 rank를 강화할 수 있지만 safety/reject와 provenance를 지울 수 없다.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A12. GAIC Corrected vs Product-AR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7357A6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32/38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corrected_v2b는 broad free-form ranking, product_ar_v1은 narrow AR-conditioned product task다.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357A6"/>
                </a:solidFill>
                <a:latin typeface="Aptos"/>
              </a:rPr>
              <a:t>2,509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corrected train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357A6"/>
                </a:solidFill>
                <a:latin typeface="Aptos"/>
              </a:rPr>
              <a:t>14,915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product-AR 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357A6"/>
                </a:solidFill>
                <a:latin typeface="Aptos"/>
              </a:rPr>
              <a:t>~86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corrected cand/task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357A6"/>
                </a:solidFill>
                <a:latin typeface="Aptos"/>
              </a:rPr>
              <a:t>~6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product cand/task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357A6"/>
                </a:solidFill>
                <a:latin typeface="Aptos"/>
              </a:rPr>
              <a:t>240,864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corrected pairwise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357A6"/>
                </a:solidFill>
                <a:latin typeface="Aptos"/>
              </a:rPr>
              <a:t>251,239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product pairwise</a:t>
            </a:r>
          </a:p>
        </p:txBody>
      </p:sp>
      <p:pic>
        <p:nvPicPr>
          <p:cNvPr id="14" name="Picture 13" descr="fig_quant_gaic_label_lineag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841"/>
            <a:ext cx="6675120" cy="38938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601675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GAIC lineage candidate richness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A13. Public Explain-Safe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33/38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public ranker score는 raw truth로 쓰기보다 safety-aware distillation으로 사용하는 것이 안전하다.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227,755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Raw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481328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0.5665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Contradiction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0.1118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Fatal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2980944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4.0516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Top1 MOS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240,864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Safe pairwise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4480559"/>
            <a:ext cx="1865376" cy="1389887"/>
          </a:xfrm>
          <a:prstGeom prst="roundRect">
            <a:avLst/>
          </a:prstGeom>
          <a:solidFill>
            <a:srgbClr val="FFFFFF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54A4A"/>
                </a:solidFill>
                <a:latin typeface="Aptos"/>
              </a:rPr>
              <a:t>401,440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Distill pairwise</a:t>
            </a:r>
          </a:p>
        </p:txBody>
      </p:sp>
      <p:pic>
        <p:nvPicPr>
          <p:cNvPr id="14" name="Picture 13" descr="fig_safe_conversion_demoted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841"/>
            <a:ext cx="6675120" cy="38938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601675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Safe conversion effect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A14. Full Teacher Leaderboard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34/38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equal-4 평균과 worst-dataset z를 함께 봐야 특정 dataset collapse를 놓치지 않는다.</a:t>
            </a:r>
          </a:p>
        </p:txBody>
      </p:sp>
      <p:pic>
        <p:nvPicPr>
          <p:cNvPr id="8" name="Picture 7" descr="fig_unified_equal4_raw_mea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47904"/>
            <a:ext cx="5394960" cy="3319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Equal-4 raw mean</a:t>
            </a:r>
          </a:p>
        </p:txBody>
      </p:sp>
      <p:pic>
        <p:nvPicPr>
          <p:cNvPr id="10" name="Picture 9" descr="fig_unified_selected_method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59151"/>
            <a:ext cx="5394960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Selected method comparison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A15. Subject-Box Follow-Up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2E8C7D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35/38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SSTK subject-box v2는 subject IoU를 개선하지만 route-collapse 해결을 자동으로 보장하지 않는다.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865376" cy="2139696"/>
          </a:xfrm>
          <a:prstGeom prst="roundRect">
            <a:avLst/>
          </a:prstGeom>
          <a:solidFill>
            <a:srgbClr val="FFFFFF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E8C7D"/>
                </a:solidFill>
                <a:latin typeface="Aptos"/>
              </a:rPr>
              <a:t>0.477671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SSTK plus Val IoU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481328"/>
            <a:ext cx="1865376" cy="2139696"/>
          </a:xfrm>
          <a:prstGeom prst="roundRect">
            <a:avLst/>
          </a:prstGeom>
          <a:solidFill>
            <a:srgbClr val="FFFFFF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E8C7D"/>
                </a:solidFill>
                <a:latin typeface="Aptos"/>
              </a:rPr>
              <a:t>0.522159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SSTK plus Direct IoU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865376" cy="2139696"/>
          </a:xfrm>
          <a:prstGeom prst="roundRect">
            <a:avLst/>
          </a:prstGeom>
          <a:solidFill>
            <a:srgbClr val="FFFFFF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E8C7D"/>
                </a:solidFill>
                <a:latin typeface="Aptos"/>
              </a:rPr>
              <a:t>0.740658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SSTK plus Neg acc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3730752"/>
            <a:ext cx="1865376" cy="2139696"/>
          </a:xfrm>
          <a:prstGeom prst="roundRect">
            <a:avLst/>
          </a:prstGeom>
          <a:solidFill>
            <a:srgbClr val="FFFFFF"/>
          </a:solidFill>
          <a:ln>
            <a:solidFill>
              <a:srgbClr val="2E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E8C7D"/>
                </a:solidFill>
                <a:latin typeface="Aptos"/>
              </a:rPr>
              <a:t>0.969483
</a:t>
            </a:r>
            <a:r>
              <a:rPr sz="900" b="0">
                <a:solidFill>
                  <a:srgbClr val="5F6B7A"/>
                </a:solidFill>
                <a:latin typeface="Noto Sans CJK KR"/>
              </a:rPr>
              <a:t>SSTK plus Hit@0.5</a:t>
            </a:r>
          </a:p>
        </p:txBody>
      </p:sp>
      <p:pic>
        <p:nvPicPr>
          <p:cNvPr id="12" name="Picture 11" descr="fig_quant_subject_box_v1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841"/>
            <a:ext cx="6675120" cy="38938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601675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Subject-box v2 quantitative comparison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A16. Qualitative Gallery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7357A6"/>
          </a:solidFill>
          <a:ln>
            <a:solidFill>
              <a:srgbClr val="7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36/38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정성 gallery는 성공 crop만이 아니라 subject FP/FN, support mismatch, portrait checklist failure를 포함해야 한다.</a:t>
            </a:r>
          </a:p>
        </p:txBody>
      </p:sp>
      <p:pic>
        <p:nvPicPr>
          <p:cNvPr id="8" name="Picture 7" descr="fig_subject_box_fp_f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811"/>
            <a:ext cx="5394960" cy="35741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Subject-box FP/FN examples</a:t>
            </a:r>
          </a:p>
        </p:txBody>
      </p:sp>
      <p:pic>
        <p:nvPicPr>
          <p:cNvPr id="10" name="Picture 9" descr="fig_subject_coverage_good_bad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25433"/>
            <a:ext cx="5394960" cy="27649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98464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0">
                <a:solidFill>
                  <a:srgbClr val="5F6B7A"/>
                </a:solidFill>
                <a:latin typeface="Noto Sans CJK KR"/>
              </a:rPr>
              <a:t>Subject coverage good/bad examples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A17.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37/38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현 상태의 한계는 명확히 보고해야 한다. 특히 Product-AR smoke/full 혼재와 route collapse를 과장 없이 분리한다.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Product-AR artifact 상태가 branch별로 full/smoke/fallback으로 혼재</a:t>
            </a:r>
          </a:p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final shortlist 19/19 route-collapse hard gate 실패</a:t>
            </a:r>
          </a:p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raw public score를 global regression truth로 쓰면 product semantics가 손상</a:t>
            </a:r>
          </a:p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dense subject-support map supervision은 아직 충분히 활용되지 않음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9212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52033"/>
                </a:solidFill>
                <a:latin typeface="Noto Sans CJK KR"/>
              </a:rPr>
              <a:t>A18. Artifact and Reproducibility Index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228600"/>
            <a:ext cx="123444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DDE3EC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869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5F6B7A"/>
                </a:solidFill>
                <a:latin typeface="Noto Sans CJK KR"/>
              </a:rPr>
              <a:t>MobileCropNet Training Data Generation Master Report,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5F6B7A"/>
                </a:solidFill>
                <a:latin typeface="Noto Sans CJK KR"/>
              </a:rPr>
              <a:t>38/38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201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52033"/>
                </a:solidFill>
                <a:latin typeface="Noto Sans CJK KR"/>
              </a:rPr>
              <a:t>deck은 source markdown, figure manifest, generated PPTX, validation summary를 같은 asset directory 아래에서 추적한다.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source report: Implement_Docs/MobileCropNet_Training_Data_Generation_Master_Report_KO_2026-04-24.md</a:t>
            </a:r>
          </a:p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figure manifest: Implement_Docs/assets_mobilecropnet_training_data_master_20260424/figure_manifest.json</a:t>
            </a:r>
          </a:p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renderer: src/scripts/build_mobilecropnet_training_data_master_deck.py</a:t>
            </a:r>
          </a:p>
          <a:p>
            <a:pPr>
              <a:spcAft>
                <a:spcPts val="800"/>
              </a:spcAft>
              <a:defRPr sz="1500">
                <a:solidFill>
                  <a:srgbClr val="152033"/>
                </a:solidFill>
                <a:latin typeface="Noto Sans CJK KR"/>
              </a:defRPr>
            </a:pPr>
            <a:r>
              <a:t>- validation JSON: generated next to the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